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F789748-6A2C-60B5-C720-C3AFCC9B0C3A}">
          <p14:sldIdLst>
            <p14:sldId id="256"/>
            <p14:sldId id="257"/>
          </p14:sldIdLst>
        </p14:section>
        <p14:section name="Core Concepts" id="{BD8246BD-12F8-A83C-C718-C724C7476A71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Sub-topics" id="{4142F604-D65A-F2FC-57ED-143EFED61930}">
          <p14:sldIdLst>
            <p14:sldId id="264"/>
            <p14:sldId id="265"/>
            <p14:sldId id="266"/>
            <p14:sldId id="267"/>
          </p14:sldIdLst>
        </p14:section>
        <p14:section name="Wrap-up" id="{FE9A8FED-E1BB-E2E1-F3A0-F817F4DB8DBF}">
          <p14:sldIdLst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6060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788920"/>
            <a:ext cx="5120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B2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Breadth First Search (BFS)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788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6"/>
                </a:solidFill>
              </a:rPr>
              <a:t>Algorithm, sub-topics, complexity and applications</a:t>
            </a:r>
            <a:endParaRPr lang="en-US" sz="1800" dirty="0"/>
          </a:p>
        </p:txBody>
      </p:sp>
      <p:sp>
        <p:nvSpPr>
          <p:cNvPr id="4" name="Author 1"/>
          <p:cNvSpPr txBox="1"/>
          <p:nvPr/>
        </p:nvSpPr>
        <p:spPr>
          <a:xfrm>
            <a:off x="548640" y="4114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Vedanti Mukesh Tatte  |  PRN 25070521154  |  Section C</a:t>
            </a:r>
            <a:endParaRPr lang="en-US" sz="1400" dirty="0"/>
          </a:p>
        </p:txBody>
      </p:sp>
      <p:sp>
        <p:nvSpPr>
          <p:cNvPr id="5" name="Ripple 2"/>
          <p:cNvSpPr/>
          <p:nvPr/>
        </p:nvSpPr>
        <p:spPr>
          <a:xfrm>
            <a:off x="5669280" y="822960"/>
            <a:ext cx="3474720" cy="3474720"/>
          </a:xfrm>
          <a:prstGeom prst="ellips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6" name="Ripple 3"/>
          <p:cNvSpPr/>
          <p:nvPr/>
        </p:nvSpPr>
        <p:spPr>
          <a:xfrm>
            <a:off x="6126480" y="1280160"/>
            <a:ext cx="2560320" cy="2560320"/>
          </a:xfrm>
          <a:prstGeom prst="ellips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Ripple 4"/>
          <p:cNvSpPr/>
          <p:nvPr/>
        </p:nvSpPr>
        <p:spPr>
          <a:xfrm>
            <a:off x="6583680" y="1737360"/>
            <a:ext cx="1645920" cy="1645920"/>
          </a:xfrm>
          <a:prstGeom prst="ellips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8" name="Source 5"/>
          <p:cNvSpPr/>
          <p:nvPr/>
        </p:nvSpPr>
        <p:spPr>
          <a:xfrm>
            <a:off x="7132320" y="2286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Node 6"/>
          <p:cNvSpPr/>
          <p:nvPr/>
        </p:nvSpPr>
        <p:spPr>
          <a:xfrm>
            <a:off x="7708392" y="1737888"/>
            <a:ext cx="219456" cy="21945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Node 7"/>
          <p:cNvSpPr/>
          <p:nvPr/>
        </p:nvSpPr>
        <p:spPr>
          <a:xfrm>
            <a:off x="7154006" y="3261049"/>
            <a:ext cx="219456" cy="21945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Node 8"/>
          <p:cNvSpPr/>
          <p:nvPr/>
        </p:nvSpPr>
        <p:spPr>
          <a:xfrm>
            <a:off x="8499869" y="2888433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Node 9"/>
          <p:cNvSpPr/>
          <p:nvPr/>
        </p:nvSpPr>
        <p:spPr>
          <a:xfrm>
            <a:off x="6093955" y="2012751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Node 10"/>
          <p:cNvSpPr/>
          <p:nvPr/>
        </p:nvSpPr>
        <p:spPr>
          <a:xfrm>
            <a:off x="8929496" y="1856380"/>
            <a:ext cx="219456" cy="21945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Node 11"/>
          <p:cNvSpPr/>
          <p:nvPr/>
        </p:nvSpPr>
        <p:spPr>
          <a:xfrm>
            <a:off x="5792314" y="3319272"/>
            <a:ext cx="219456" cy="21945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We Will Cover</a:t>
            </a:r>
            <a:endParaRPr lang="en-US" sz="3200" dirty="0"/>
          </a:p>
        </p:txBody>
      </p:sp>
      <p:sp>
        <p:nvSpPr>
          <p:cNvPr id="3" name="Badge 12"/>
          <p:cNvSpPr txBox="1"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Agenda item 13"/>
          <p:cNvSpPr txBox="1"/>
          <p:nvPr/>
        </p:nvSpPr>
        <p:spPr>
          <a:xfrm>
            <a:off x="1143000" y="12161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Introduction &amp; Core Idea</a:t>
            </a:r>
            <a:endParaRPr lang="en-US" sz="1600" dirty="0"/>
          </a:p>
        </p:txBody>
      </p:sp>
      <p:sp>
        <p:nvSpPr>
          <p:cNvPr id="5" name="Agenda note 14"/>
          <p:cNvSpPr txBox="1"/>
          <p:nvPr/>
        </p:nvSpPr>
        <p:spPr>
          <a:xfrm>
            <a:off x="1143000" y="1536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Definition, queue, level-by-level</a:t>
            </a:r>
            <a:endParaRPr lang="en-US" sz="1200" dirty="0"/>
          </a:p>
        </p:txBody>
      </p:sp>
      <p:sp>
        <p:nvSpPr>
          <p:cNvPr id="6" name="Badge 15"/>
          <p:cNvSpPr txBox="1"/>
          <p:nvPr/>
        </p:nvSpPr>
        <p:spPr>
          <a:xfrm>
            <a:off x="457200" y="21031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Agenda item 16"/>
          <p:cNvSpPr txBox="1"/>
          <p:nvPr/>
        </p:nvSpPr>
        <p:spPr>
          <a:xfrm>
            <a:off x="1143000" y="2084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Algorithm &amp; Pseudocode</a:t>
            </a:r>
            <a:endParaRPr lang="en-US" sz="1600" dirty="0"/>
          </a:p>
        </p:txBody>
      </p:sp>
      <p:sp>
        <p:nvSpPr>
          <p:cNvPr id="8" name="Agenda note 17"/>
          <p:cNvSpPr txBox="1"/>
          <p:nvPr/>
        </p:nvSpPr>
        <p:spPr>
          <a:xfrm>
            <a:off x="1143000" y="2404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Steps and why they work</a:t>
            </a:r>
            <a:endParaRPr lang="en-US" sz="1200" dirty="0"/>
          </a:p>
        </p:txBody>
      </p:sp>
      <p:sp>
        <p:nvSpPr>
          <p:cNvPr id="9" name="Badge 18"/>
          <p:cNvSpPr txBox="1"/>
          <p:nvPr/>
        </p:nvSpPr>
        <p:spPr>
          <a:xfrm>
            <a:off x="457200" y="2971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0" name="Agenda item 19"/>
          <p:cNvSpPr txBox="1"/>
          <p:nvPr/>
        </p:nvSpPr>
        <p:spPr>
          <a:xfrm>
            <a:off x="1143000" y="29535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Worked Example</a:t>
            </a:r>
            <a:endParaRPr lang="en-US" sz="1600" dirty="0"/>
          </a:p>
        </p:txBody>
      </p:sp>
      <p:sp>
        <p:nvSpPr>
          <p:cNvPr id="11" name="Agenda note 20"/>
          <p:cNvSpPr txBox="1"/>
          <p:nvPr/>
        </p:nvSpPr>
        <p:spPr>
          <a:xfrm>
            <a:off x="1143000" y="3273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Trace on a sample graph</a:t>
            </a:r>
            <a:endParaRPr lang="en-US" sz="1200" dirty="0"/>
          </a:p>
        </p:txBody>
      </p:sp>
      <p:sp>
        <p:nvSpPr>
          <p:cNvPr id="12" name="Badge 21"/>
          <p:cNvSpPr txBox="1"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3" name="Agenda item 22"/>
          <p:cNvSpPr txBox="1"/>
          <p:nvPr/>
        </p:nvSpPr>
        <p:spPr>
          <a:xfrm>
            <a:off x="1143000" y="3822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Implementation</a:t>
            </a:r>
            <a:endParaRPr lang="en-US" sz="1600" dirty="0"/>
          </a:p>
        </p:txBody>
      </p:sp>
      <p:sp>
        <p:nvSpPr>
          <p:cNvPr id="14" name="Agenda note 23"/>
          <p:cNvSpPr txBox="1"/>
          <p:nvPr/>
        </p:nvSpPr>
        <p:spPr>
          <a:xfrm>
            <a:off x="1143000" y="4142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Python using deque</a:t>
            </a:r>
            <a:endParaRPr lang="en-US" sz="1200" dirty="0"/>
          </a:p>
        </p:txBody>
      </p:sp>
      <p:sp>
        <p:nvSpPr>
          <p:cNvPr id="15" name="Badge 24"/>
          <p:cNvSpPr txBox="1"/>
          <p:nvPr/>
        </p:nvSpPr>
        <p:spPr>
          <a:xfrm>
            <a:off x="4754880" y="1234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6" name="Agenda item 25"/>
          <p:cNvSpPr txBox="1"/>
          <p:nvPr/>
        </p:nvSpPr>
        <p:spPr>
          <a:xfrm>
            <a:off x="5440680" y="12161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Complexity Analysis</a:t>
            </a:r>
            <a:endParaRPr lang="en-US" sz="1600" dirty="0"/>
          </a:p>
        </p:txBody>
      </p:sp>
      <p:sp>
        <p:nvSpPr>
          <p:cNvPr id="17" name="Agenda note 26"/>
          <p:cNvSpPr txBox="1"/>
          <p:nvPr/>
        </p:nvSpPr>
        <p:spPr>
          <a:xfrm>
            <a:off x="5440680" y="1536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Time and space bounds</a:t>
            </a:r>
            <a:endParaRPr lang="en-US" sz="1200" dirty="0"/>
          </a:p>
        </p:txBody>
      </p:sp>
      <p:sp>
        <p:nvSpPr>
          <p:cNvPr id="18" name="Badge 27"/>
          <p:cNvSpPr txBox="1"/>
          <p:nvPr/>
        </p:nvSpPr>
        <p:spPr>
          <a:xfrm>
            <a:off x="4754880" y="21031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9" name="Agenda item 28"/>
          <p:cNvSpPr txBox="1"/>
          <p:nvPr/>
        </p:nvSpPr>
        <p:spPr>
          <a:xfrm>
            <a:off x="5440680" y="2084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Shortest Path &amp; BFS Tree</a:t>
            </a:r>
            <a:endParaRPr lang="en-US" sz="1600" dirty="0"/>
          </a:p>
        </p:txBody>
      </p:sp>
      <p:sp>
        <p:nvSpPr>
          <p:cNvPr id="20" name="Agenda note 29"/>
          <p:cNvSpPr txBox="1"/>
          <p:nvPr/>
        </p:nvSpPr>
        <p:spPr>
          <a:xfrm>
            <a:off x="5440680" y="2404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Unweighted distances</a:t>
            </a:r>
            <a:endParaRPr lang="en-US" sz="1200" dirty="0"/>
          </a:p>
        </p:txBody>
      </p:sp>
      <p:sp>
        <p:nvSpPr>
          <p:cNvPr id="21" name="Badge 30"/>
          <p:cNvSpPr txBox="1"/>
          <p:nvPr/>
        </p:nvSpPr>
        <p:spPr>
          <a:xfrm>
            <a:off x="4754880" y="2971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2" name="Agenda item 31"/>
          <p:cNvSpPr txBox="1"/>
          <p:nvPr/>
        </p:nvSpPr>
        <p:spPr>
          <a:xfrm>
            <a:off x="5440680" y="29535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Components, Bipartite, Cycles</a:t>
            </a:r>
            <a:endParaRPr lang="en-US" sz="1600" dirty="0"/>
          </a:p>
        </p:txBody>
      </p:sp>
      <p:sp>
        <p:nvSpPr>
          <p:cNvPr id="23" name="Agenda note 32"/>
          <p:cNvSpPr txBox="1"/>
          <p:nvPr/>
        </p:nvSpPr>
        <p:spPr>
          <a:xfrm>
            <a:off x="5440680" y="3273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Problems solved with BFS</a:t>
            </a:r>
            <a:endParaRPr lang="en-US" sz="1200" dirty="0"/>
          </a:p>
        </p:txBody>
      </p:sp>
      <p:sp>
        <p:nvSpPr>
          <p:cNvPr id="24" name="Badge 33"/>
          <p:cNvSpPr txBox="1"/>
          <p:nvPr/>
        </p:nvSpPr>
        <p:spPr>
          <a:xfrm>
            <a:off x="4754880" y="38404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25" name="Agenda item 34"/>
          <p:cNvSpPr txBox="1"/>
          <p:nvPr/>
        </p:nvSpPr>
        <p:spPr>
          <a:xfrm>
            <a:off x="5440680" y="3822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Variants, Uses, BFS vs DFS</a:t>
            </a:r>
            <a:endParaRPr lang="en-US" sz="1600" dirty="0"/>
          </a:p>
        </p:txBody>
      </p:sp>
      <p:sp>
        <p:nvSpPr>
          <p:cNvPr id="26" name="Agenda note 35"/>
          <p:cNvSpPr txBox="1"/>
          <p:nvPr/>
        </p:nvSpPr>
        <p:spPr>
          <a:xfrm>
            <a:off x="5440680" y="4142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0-1 BFS, bidirectional, more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Is BFS?</a:t>
            </a:r>
            <a:endParaRPr lang="en-US" sz="3200" dirty="0"/>
          </a:p>
        </p:txBody>
      </p:sp>
      <p:sp>
        <p:nvSpPr>
          <p:cNvPr id="3" name="Bullets 36"/>
          <p:cNvSpPr txBox="1"/>
          <p:nvPr/>
        </p:nvSpPr>
        <p:spPr>
          <a:xfrm>
            <a:off x="457200" y="123444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graph traversal that visits every vertex reachable from a source, nearest first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Explores all vertices at distance d before any vertex at distance d + 1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Uses a FIFO queue plus a visited set, so no vertex is processed twice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Works on directed and undirected graphs, stored as an adjacency list or matrix</a:t>
            </a:r>
            <a:endParaRPr lang="en-US" sz="1600" dirty="0"/>
          </a:p>
        </p:txBody>
      </p:sp>
      <p:sp>
        <p:nvSpPr>
          <p:cNvPr id="4" name="Level 37"/>
          <p:cNvSpPr txBox="1"/>
          <p:nvPr/>
        </p:nvSpPr>
        <p:spPr>
          <a:xfrm>
            <a:off x="6537960" y="1371600"/>
            <a:ext cx="1280160" cy="73152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Level 0</a:t>
            </a:r>
            <a:endParaRPr lang="en-US" sz="1600" dirty="0"/>
          </a:p>
        </p:txBody>
      </p:sp>
      <p:sp>
        <p:nvSpPr>
          <p:cNvPr id="5" name="Level 38"/>
          <p:cNvSpPr txBox="1"/>
          <p:nvPr/>
        </p:nvSpPr>
        <p:spPr>
          <a:xfrm>
            <a:off x="6126480" y="2331720"/>
            <a:ext cx="210312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Level 1</a:t>
            </a:r>
            <a:endParaRPr lang="en-US" sz="1600" dirty="0"/>
          </a:p>
        </p:txBody>
      </p:sp>
      <p:sp>
        <p:nvSpPr>
          <p:cNvPr id="6" name="Level 39"/>
          <p:cNvSpPr txBox="1"/>
          <p:nvPr/>
        </p:nvSpPr>
        <p:spPr>
          <a:xfrm>
            <a:off x="5715000" y="3291840"/>
            <a:ext cx="2926080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Level 2</a:t>
            </a:r>
            <a:endParaRPr lang="en-US" sz="1600" dirty="0"/>
          </a:p>
        </p:txBody>
      </p:sp>
      <p:sp>
        <p:nvSpPr>
          <p:cNvPr id="7" name="Caption 40"/>
          <p:cNvSpPr txBox="1"/>
          <p:nvPr/>
        </p:nvSpPr>
        <p:spPr>
          <a:xfrm>
            <a:off x="557784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Source → neighbours → their neighbours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How It Works</a:t>
            </a:r>
            <a:endParaRPr lang="en-US" sz="3200" dirty="0"/>
          </a:p>
        </p:txBody>
      </p:sp>
      <p:sp>
        <p:nvSpPr>
          <p:cNvPr id="3" name="Dequeue 41"/>
          <p:cNvSpPr txBox="1"/>
          <p:nvPr/>
        </p:nvSpPr>
        <p:spPr>
          <a:xfrm>
            <a:off x="457200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dequeue ←</a:t>
            </a:r>
            <a:endParaRPr lang="en-US" sz="1400" dirty="0"/>
          </a:p>
        </p:txBody>
      </p:sp>
      <p:sp>
        <p:nvSpPr>
          <p:cNvPr id="4" name="Queue cell 42"/>
          <p:cNvSpPr txBox="1"/>
          <p:nvPr/>
        </p:nvSpPr>
        <p:spPr>
          <a:xfrm>
            <a:off x="2011680" y="1325880"/>
            <a:ext cx="8229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5" name="Queue cell 43"/>
          <p:cNvSpPr txBox="1"/>
          <p:nvPr/>
        </p:nvSpPr>
        <p:spPr>
          <a:xfrm>
            <a:off x="2926080" y="1325880"/>
            <a:ext cx="8229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endParaRPr lang="en-US" sz="1800" dirty="0"/>
          </a:p>
        </p:txBody>
      </p:sp>
      <p:sp>
        <p:nvSpPr>
          <p:cNvPr id="6" name="Queue cell 44"/>
          <p:cNvSpPr txBox="1"/>
          <p:nvPr/>
        </p:nvSpPr>
        <p:spPr>
          <a:xfrm>
            <a:off x="3840480" y="1325880"/>
            <a:ext cx="8229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D</a:t>
            </a:r>
            <a:endParaRPr lang="en-US" sz="1800" dirty="0"/>
          </a:p>
        </p:txBody>
      </p:sp>
      <p:sp>
        <p:nvSpPr>
          <p:cNvPr id="7" name="Queue cell 45"/>
          <p:cNvSpPr txBox="1"/>
          <p:nvPr/>
        </p:nvSpPr>
        <p:spPr>
          <a:xfrm>
            <a:off x="4754880" y="1325880"/>
            <a:ext cx="8229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E</a:t>
            </a:r>
            <a:endParaRPr lang="en-US" sz="1800" dirty="0"/>
          </a:p>
        </p:txBody>
      </p:sp>
      <p:sp>
        <p:nvSpPr>
          <p:cNvPr id="8" name="Queue cell 46"/>
          <p:cNvSpPr txBox="1"/>
          <p:nvPr/>
        </p:nvSpPr>
        <p:spPr>
          <a:xfrm>
            <a:off x="5669280" y="1325880"/>
            <a:ext cx="8229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F</a:t>
            </a:r>
            <a:endParaRPr lang="en-US" sz="1800" dirty="0"/>
          </a:p>
        </p:txBody>
      </p:sp>
      <p:sp>
        <p:nvSpPr>
          <p:cNvPr id="9" name="Enqueue 47"/>
          <p:cNvSpPr txBox="1"/>
          <p:nvPr/>
        </p:nvSpPr>
        <p:spPr>
          <a:xfrm>
            <a:off x="6675120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← enqueue</a:t>
            </a:r>
            <a:endParaRPr lang="en-US" sz="1400" dirty="0"/>
          </a:p>
        </p:txBody>
      </p:sp>
      <p:sp>
        <p:nvSpPr>
          <p:cNvPr id="10" name="Queue caption 48"/>
          <p:cNvSpPr txBox="1"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Queue (FIFO): the front is always the oldest, i.e. nearest, vertex</a:t>
            </a:r>
            <a:endParaRPr lang="en-US" sz="1200" dirty="0"/>
          </a:p>
        </p:txBody>
      </p:sp>
      <p:sp>
        <p:nvSpPr>
          <p:cNvPr id="11" name="Card 49"/>
          <p:cNvSpPr/>
          <p:nvPr/>
        </p:nvSpPr>
        <p:spPr>
          <a:xfrm>
            <a:off x="457200" y="2514600"/>
            <a:ext cx="256032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 50"/>
          <p:cNvSpPr txBox="1"/>
          <p:nvPr/>
        </p:nvSpPr>
        <p:spPr>
          <a:xfrm>
            <a:off x="685800" y="2715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Step title 51"/>
          <p:cNvSpPr txBox="1"/>
          <p:nvPr/>
        </p:nvSpPr>
        <p:spPr>
          <a:xfrm>
            <a:off x="1280160" y="27157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Start</a:t>
            </a:r>
            <a:endParaRPr lang="en-US" sz="1800" dirty="0"/>
          </a:p>
        </p:txBody>
      </p:sp>
      <p:sp>
        <p:nvSpPr>
          <p:cNvPr id="14" name="Step text 52"/>
          <p:cNvSpPr txBox="1"/>
          <p:nvPr/>
        </p:nvSpPr>
        <p:spPr>
          <a:xfrm>
            <a:off x="685800" y="3337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Mark the source as visited and place it in the queue.</a:t>
            </a:r>
            <a:endParaRPr lang="en-US" sz="1400" dirty="0"/>
          </a:p>
        </p:txBody>
      </p:sp>
      <p:sp>
        <p:nvSpPr>
          <p:cNvPr id="15" name="Card 53"/>
          <p:cNvSpPr/>
          <p:nvPr/>
        </p:nvSpPr>
        <p:spPr>
          <a:xfrm>
            <a:off x="3291840" y="2514600"/>
            <a:ext cx="256032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 54"/>
          <p:cNvSpPr txBox="1"/>
          <p:nvPr/>
        </p:nvSpPr>
        <p:spPr>
          <a:xfrm>
            <a:off x="3520440" y="271576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Step title 55"/>
          <p:cNvSpPr txBox="1"/>
          <p:nvPr/>
        </p:nvSpPr>
        <p:spPr>
          <a:xfrm>
            <a:off x="4114800" y="27157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Visit</a:t>
            </a:r>
            <a:endParaRPr lang="en-US" sz="1800" dirty="0"/>
          </a:p>
        </p:txBody>
      </p:sp>
      <p:sp>
        <p:nvSpPr>
          <p:cNvPr id="18" name="Step text 56"/>
          <p:cNvSpPr txBox="1"/>
          <p:nvPr/>
        </p:nvSpPr>
        <p:spPr>
          <a:xfrm>
            <a:off x="3520440" y="3337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Remove the front vertex u from the queue and process it.</a:t>
            </a:r>
            <a:endParaRPr lang="en-US" sz="1400" dirty="0"/>
          </a:p>
        </p:txBody>
      </p:sp>
      <p:sp>
        <p:nvSpPr>
          <p:cNvPr id="19" name="Card 57"/>
          <p:cNvSpPr/>
          <p:nvPr/>
        </p:nvSpPr>
        <p:spPr>
          <a:xfrm>
            <a:off x="6126480" y="2514600"/>
            <a:ext cx="256032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 58"/>
          <p:cNvSpPr txBox="1"/>
          <p:nvPr/>
        </p:nvSpPr>
        <p:spPr>
          <a:xfrm>
            <a:off x="6355080" y="271576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Step title 59"/>
          <p:cNvSpPr txBox="1"/>
          <p:nvPr/>
        </p:nvSpPr>
        <p:spPr>
          <a:xfrm>
            <a:off x="6949440" y="27157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Expand</a:t>
            </a:r>
            <a:endParaRPr lang="en-US" sz="1800" dirty="0"/>
          </a:p>
        </p:txBody>
      </p:sp>
      <p:sp>
        <p:nvSpPr>
          <p:cNvPr id="22" name="Step text 60"/>
          <p:cNvSpPr txBox="1"/>
          <p:nvPr/>
        </p:nvSpPr>
        <p:spPr>
          <a:xfrm>
            <a:off x="6355080" y="3337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Mark each unvisited neighbour of u visited and enqueue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Algorithm &amp; Pseudocode</a:t>
            </a:r>
            <a:endParaRPr lang="en-US" sz="3200" dirty="0"/>
          </a:p>
        </p:txBody>
      </p:sp>
      <p:sp>
        <p:nvSpPr>
          <p:cNvPr id="3" name="Code 61"/>
          <p:cNvSpPr txBox="1"/>
          <p:nvPr/>
        </p:nvSpPr>
        <p:spPr>
          <a:xfrm>
            <a:off x="457200" y="1188720"/>
            <a:ext cx="5029200" cy="3429000"/>
          </a:xfrm>
          <a:prstGeom prst="roundRect">
            <a:avLst>
              <a:gd name="adj" fmla="val 2133"/>
            </a:avLst>
          </a:prstGeom>
          <a:solidFill>
            <a:schemeClr val="tx2"/>
          </a:solidFill>
          <a:ln/>
        </p:spPr>
        <p:txBody>
          <a:bodyPr wrap="square" lIns="127000" tIns="152400" rIns="152400" bIns="1270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BFS(G, s):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each vertex v in G: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visited[v] = false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visited[s] = true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 = empty queue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enqueue(Q, s)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Q is not empty: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 = dequeue(Q)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visit(u)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 each neighbour v of u: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if not visited[v]: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visited[v] = true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enqueue(Q, v)</a:t>
            </a:r>
            <a:endParaRPr lang="en-US" sz="1200" dirty="0"/>
          </a:p>
        </p:txBody>
      </p:sp>
      <p:sp>
        <p:nvSpPr>
          <p:cNvPr id="4" name="Why heading 62"/>
          <p:cNvSpPr txBox="1"/>
          <p:nvPr/>
        </p:nvSpPr>
        <p:spPr>
          <a:xfrm>
            <a:off x="585216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Why it works</a:t>
            </a:r>
            <a:endParaRPr lang="en-US" sz="2000" dirty="0"/>
          </a:p>
        </p:txBody>
      </p:sp>
      <p:sp>
        <p:nvSpPr>
          <p:cNvPr id="5" name="Bullets 63"/>
          <p:cNvSpPr txBox="1"/>
          <p:nvPr/>
        </p:nvSpPr>
        <p:spPr>
          <a:xfrm>
            <a:off x="5852160" y="169164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vertex is marked when enqueued, not when dequeued, which prevents duplicates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FIFO order makes nearer vertices leave the queue first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vertex is enqueued once and each edge is examined once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Example (Source A)</a:t>
            </a:r>
            <a:endParaRPr lang="en-US" sz="3200" dirty="0"/>
          </a:p>
        </p:txBody>
      </p:sp>
      <p:sp>
        <p:nvSpPr>
          <p:cNvPr id="3" name="Edge 64"/>
          <p:cNvSpPr/>
          <p:nvPr/>
        </p:nvSpPr>
        <p:spPr>
          <a:xfrm flipV="1">
            <a:off x="868680" y="2011680"/>
            <a:ext cx="1143000" cy="91440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" name="Edge 65"/>
          <p:cNvSpPr/>
          <p:nvPr/>
        </p:nvSpPr>
        <p:spPr>
          <a:xfrm>
            <a:off x="868680" y="2926080"/>
            <a:ext cx="1143000" cy="91440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5" name="Edge 66"/>
          <p:cNvSpPr/>
          <p:nvPr/>
        </p:nvSpPr>
        <p:spPr>
          <a:xfrm flipV="1">
            <a:off x="2011680" y="1554480"/>
            <a:ext cx="1280160" cy="45720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6" name="Edge 67"/>
          <p:cNvSpPr/>
          <p:nvPr/>
        </p:nvSpPr>
        <p:spPr>
          <a:xfrm>
            <a:off x="2011680" y="2011680"/>
            <a:ext cx="1280160" cy="5486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7" name="Edge 68"/>
          <p:cNvSpPr/>
          <p:nvPr/>
        </p:nvSpPr>
        <p:spPr>
          <a:xfrm>
            <a:off x="2011680" y="3840480"/>
            <a:ext cx="12801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8" name="Edge 69"/>
          <p:cNvSpPr/>
          <p:nvPr/>
        </p:nvSpPr>
        <p:spPr>
          <a:xfrm>
            <a:off x="3291840" y="2560320"/>
            <a:ext cx="0" cy="12801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9" name="Vertex 70"/>
          <p:cNvSpPr txBox="1"/>
          <p:nvPr/>
        </p:nvSpPr>
        <p:spPr>
          <a:xfrm>
            <a:off x="612648" y="2670048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A</a:t>
            </a:r>
            <a:endParaRPr lang="en-US" sz="1600" dirty="0"/>
          </a:p>
        </p:txBody>
      </p:sp>
      <p:sp>
        <p:nvSpPr>
          <p:cNvPr id="10" name="Vertex 71"/>
          <p:cNvSpPr txBox="1"/>
          <p:nvPr/>
        </p:nvSpPr>
        <p:spPr>
          <a:xfrm>
            <a:off x="1755648" y="175564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Vertex 72"/>
          <p:cNvSpPr txBox="1"/>
          <p:nvPr/>
        </p:nvSpPr>
        <p:spPr>
          <a:xfrm>
            <a:off x="1755648" y="358444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2" name="Vertex 73"/>
          <p:cNvSpPr txBox="1"/>
          <p:nvPr/>
        </p:nvSpPr>
        <p:spPr>
          <a:xfrm>
            <a:off x="3035808" y="1298448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3" name="Vertex 74"/>
          <p:cNvSpPr txBox="1"/>
          <p:nvPr/>
        </p:nvSpPr>
        <p:spPr>
          <a:xfrm>
            <a:off x="3035808" y="2304288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</a:t>
            </a:r>
            <a:endParaRPr lang="en-US" sz="1600" dirty="0"/>
          </a:p>
        </p:txBody>
      </p:sp>
      <p:sp>
        <p:nvSpPr>
          <p:cNvPr id="14" name="Vertex 75"/>
          <p:cNvSpPr txBox="1"/>
          <p:nvPr/>
        </p:nvSpPr>
        <p:spPr>
          <a:xfrm>
            <a:off x="3035808" y="3584448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F</a:t>
            </a:r>
            <a:endParaRPr lang="en-US" sz="1600" dirty="0"/>
          </a:p>
        </p:txBody>
      </p:sp>
      <p:sp>
        <p:nvSpPr>
          <p:cNvPr id="15" name="Level label 76"/>
          <p:cNvSpPr txBox="1"/>
          <p:nvPr/>
        </p:nvSpPr>
        <p:spPr>
          <a:xfrm>
            <a:off x="411480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Level 0</a:t>
            </a:r>
            <a:endParaRPr lang="en-US" sz="1200" dirty="0"/>
          </a:p>
        </p:txBody>
      </p:sp>
      <p:sp>
        <p:nvSpPr>
          <p:cNvPr id="16" name="Level label 77"/>
          <p:cNvSpPr txBox="1"/>
          <p:nvPr/>
        </p:nvSpPr>
        <p:spPr>
          <a:xfrm>
            <a:off x="1554480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Level 1</a:t>
            </a:r>
            <a:endParaRPr lang="en-US" sz="1200" dirty="0"/>
          </a:p>
        </p:txBody>
      </p:sp>
      <p:sp>
        <p:nvSpPr>
          <p:cNvPr id="17" name="Level label 78"/>
          <p:cNvSpPr txBox="1"/>
          <p:nvPr/>
        </p:nvSpPr>
        <p:spPr>
          <a:xfrm>
            <a:off x="2834640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Level 2</a:t>
            </a:r>
            <a:endParaRPr lang="en-US" sz="1200" dirty="0"/>
          </a:p>
        </p:txBody>
      </p:sp>
      <p:graphicFrame>
        <p:nvGraphicFramePr>
          <p:cNvPr id="18" name="Trace table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88720"/>
          <a:ext cx="411480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Dequeue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Queue after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A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B, C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B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C, D, E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C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D, E, F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D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E, F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F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F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(empty)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Visit order 80"/>
          <p:cNvSpPr txBox="1"/>
          <p:nvPr/>
        </p:nvSpPr>
        <p:spPr>
          <a:xfrm>
            <a:off x="4572000" y="3840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Visit order: A → B → C → D → E → F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Implementation in Python</a:t>
            </a:r>
            <a:endParaRPr lang="en-US" sz="3200" dirty="0"/>
          </a:p>
        </p:txBody>
      </p:sp>
      <p:sp>
        <p:nvSpPr>
          <p:cNvPr id="3" name="Code 81"/>
          <p:cNvSpPr txBox="1"/>
          <p:nvPr/>
        </p:nvSpPr>
        <p:spPr>
          <a:xfrm>
            <a:off x="457200" y="1188720"/>
            <a:ext cx="4572000" cy="3429000"/>
          </a:xfrm>
          <a:prstGeom prst="roundRect">
            <a:avLst>
              <a:gd name="adj" fmla="val 2133"/>
            </a:avLst>
          </a:prstGeom>
          <a:solidFill>
            <a:schemeClr val="tx2"/>
          </a:solidFill>
          <a:ln/>
        </p:spPr>
        <p:txBody>
          <a:bodyPr wrap="square" lIns="127000" tIns="152400" rIns="152400" bIns="1270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deque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bfs(graph, start):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visited = {start}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 = deque([start])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= []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queue: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 = queue.popleft()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order.append(u)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v in graph[u]: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v not in visited: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visited.add(v)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queue.append(v)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order</a:t>
            </a:r>
            <a:endParaRPr lang="en-US" sz="1200" dirty="0"/>
          </a:p>
        </p:txBody>
      </p:sp>
      <p:sp>
        <p:nvSpPr>
          <p:cNvPr id="4" name="Code 82"/>
          <p:cNvSpPr txBox="1"/>
          <p:nvPr/>
        </p:nvSpPr>
        <p:spPr>
          <a:xfrm>
            <a:off x="5303520" y="1188720"/>
            <a:ext cx="338328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/>
        </p:spPr>
        <p:txBody>
          <a:bodyPr wrap="square" lIns="127000" tIns="152400" rIns="152400" bIns="1270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'A': ['B', 'C'],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'B': ['A', 'D', 'E'],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'C': ['A', 'F'],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'D': ['B'],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'E': ['B', 'F'],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'F': ['C', 'E']}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bfs(graph, 'A')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['A','B','C','D','E','F']</a:t>
            </a:r>
            <a:endParaRPr lang="en-US" sz="1200" dirty="0"/>
          </a:p>
        </p:txBody>
      </p:sp>
      <p:sp>
        <p:nvSpPr>
          <p:cNvPr id="5" name="Card 83"/>
          <p:cNvSpPr/>
          <p:nvPr/>
        </p:nvSpPr>
        <p:spPr>
          <a:xfrm>
            <a:off x="5303520" y="3657600"/>
            <a:ext cx="33832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ip 84"/>
          <p:cNvSpPr txBox="1"/>
          <p:nvPr/>
        </p:nvSpPr>
        <p:spPr>
          <a:xfrm>
            <a:off x="5486400" y="37033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deque.popleft() is O(1); list.pop(0) is O(n), so avoid a plain list as the queue.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Complexity Analysis</a:t>
            </a:r>
            <a:endParaRPr lang="en-US" sz="3200" dirty="0"/>
          </a:p>
        </p:txBody>
      </p:sp>
      <p:sp>
        <p:nvSpPr>
          <p:cNvPr id="3" name="Stat card 85"/>
          <p:cNvSpPr/>
          <p:nvPr/>
        </p:nvSpPr>
        <p:spPr>
          <a:xfrm>
            <a:off x="45720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at 86"/>
          <p:cNvSpPr txBox="1"/>
          <p:nvPr/>
        </p:nvSpPr>
        <p:spPr>
          <a:xfrm>
            <a:off x="45720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bg1"/>
                </a:solidFill>
              </a:rPr>
              <a:t>O(V + E)</a:t>
            </a:r>
            <a:endParaRPr lang="en-US" sz="3800" dirty="0"/>
          </a:p>
        </p:txBody>
      </p:sp>
      <p:sp>
        <p:nvSpPr>
          <p:cNvPr id="5" name="Stat label 87"/>
          <p:cNvSpPr txBox="1"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Time, adjacency list</a:t>
            </a:r>
            <a:endParaRPr lang="en-US" sz="1400" dirty="0"/>
          </a:p>
        </p:txBody>
      </p:sp>
      <p:sp>
        <p:nvSpPr>
          <p:cNvPr id="6" name="Stat card 88"/>
          <p:cNvSpPr/>
          <p:nvPr/>
        </p:nvSpPr>
        <p:spPr>
          <a:xfrm>
            <a:off x="329184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Stat 89"/>
          <p:cNvSpPr txBox="1"/>
          <p:nvPr/>
        </p:nvSpPr>
        <p:spPr>
          <a:xfrm>
            <a:off x="329184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bg1"/>
                </a:solidFill>
              </a:rPr>
              <a:t>O(V²)</a:t>
            </a:r>
            <a:endParaRPr lang="en-US" sz="3800" dirty="0"/>
          </a:p>
        </p:txBody>
      </p:sp>
      <p:sp>
        <p:nvSpPr>
          <p:cNvPr id="8" name="Stat label 90"/>
          <p:cNvSpPr txBox="1"/>
          <p:nvPr/>
        </p:nvSpPr>
        <p:spPr>
          <a:xfrm>
            <a:off x="329184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Time, adjacency matrix</a:t>
            </a:r>
            <a:endParaRPr lang="en-US" sz="1400" dirty="0"/>
          </a:p>
        </p:txBody>
      </p:sp>
      <p:sp>
        <p:nvSpPr>
          <p:cNvPr id="9" name="Stat card 91"/>
          <p:cNvSpPr/>
          <p:nvPr/>
        </p:nvSpPr>
        <p:spPr>
          <a:xfrm>
            <a:off x="612648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Stat 92"/>
          <p:cNvSpPr txBox="1"/>
          <p:nvPr/>
        </p:nvSpPr>
        <p:spPr>
          <a:xfrm>
            <a:off x="612648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bg1"/>
                </a:solidFill>
              </a:rPr>
              <a:t>O(V)</a:t>
            </a:r>
            <a:endParaRPr lang="en-US" sz="3800" dirty="0"/>
          </a:p>
        </p:txBody>
      </p:sp>
      <p:sp>
        <p:nvSpPr>
          <p:cNvPr id="11" name="Stat label 93"/>
          <p:cNvSpPr txBox="1"/>
          <p:nvPr/>
        </p:nvSpPr>
        <p:spPr>
          <a:xfrm>
            <a:off x="612648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Space: queue + visited</a:t>
            </a:r>
            <a:endParaRPr lang="en-US" sz="1400" dirty="0"/>
          </a:p>
        </p:txBody>
      </p:sp>
      <p:sp>
        <p:nvSpPr>
          <p:cNvPr id="12" name="Bullets 94"/>
          <p:cNvSpPr txBox="1"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vertex is enqueued and dequeued once: O(V). Every adjacency list is scanned once: O(E).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With an adjacency matrix, finding the neighbours of a vertex costs O(V), giving O(V²) overall.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Worst-case queue size is the widest level, up to V − 1 vertices (a star graph).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Shortest Path &amp; BFS Tree</a:t>
            </a:r>
            <a:endParaRPr lang="en-US" sz="3200" dirty="0"/>
          </a:p>
        </p:txBody>
      </p:sp>
      <p:sp>
        <p:nvSpPr>
          <p:cNvPr id="3" name="Bullets 95"/>
          <p:cNvSpPr txBox="1"/>
          <p:nvPr/>
        </p:nvSpPr>
        <p:spPr>
          <a:xfrm>
            <a:off x="457200" y="123444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first time BFS reaches a vertex is along a path with the fewest edges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Distance rule: dist[v] = dist[u] + 1 when v is discovered from u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Store parent[v] = u; the parent links form the BFS tree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Walk back from the target to the source via parent, then reverse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 only for unweighted graphs</a:t>
            </a:r>
            <a:endParaRPr lang="en-US" sz="1400" dirty="0"/>
          </a:p>
        </p:txBody>
      </p:sp>
      <p:sp>
        <p:nvSpPr>
          <p:cNvPr id="4" name="Code 96"/>
          <p:cNvSpPr txBox="1"/>
          <p:nvPr/>
        </p:nvSpPr>
        <p:spPr>
          <a:xfrm>
            <a:off x="4572000" y="1188720"/>
            <a:ext cx="4114800" cy="3429000"/>
          </a:xfrm>
          <a:prstGeom prst="roundRect">
            <a:avLst>
              <a:gd name="adj" fmla="val 2133"/>
            </a:avLst>
          </a:prstGeom>
          <a:solidFill>
            <a:schemeClr val="tx2"/>
          </a:solidFill>
          <a:ln/>
        </p:spPr>
        <p:txBody>
          <a:bodyPr wrap="square" lIns="127000" tIns="152400" rIns="152400" bIns="1270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shortest_path(g, s, t):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parent = {s: None}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deque([s])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q: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 = q.popleft()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v in g[u]: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v not in parent: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parent[v] = u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q.append(v)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 not in parent: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[]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 = []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 is not None: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path.append(t)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 = parent[t]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path[::-1]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Components &amp; Bipartite Check</a:t>
            </a:r>
            <a:endParaRPr lang="en-US" sz="3200" dirty="0"/>
          </a:p>
        </p:txBody>
      </p:sp>
      <p:sp>
        <p:nvSpPr>
          <p:cNvPr id="3" name="Card 97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98"/>
          <p:cNvSpPr txBox="1"/>
          <p:nvPr/>
        </p:nvSpPr>
        <p:spPr>
          <a:xfrm>
            <a:off x="685800" y="13898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Card title 99"/>
          <p:cNvSpPr txBox="1"/>
          <p:nvPr/>
        </p:nvSpPr>
        <p:spPr>
          <a:xfrm>
            <a:off x="123444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Connected components</a:t>
            </a:r>
            <a:endParaRPr lang="en-US" sz="1800" dirty="0"/>
          </a:p>
        </p:txBody>
      </p:sp>
      <p:sp>
        <p:nvSpPr>
          <p:cNvPr id="6" name="Bullets 100"/>
          <p:cNvSpPr txBox="1"/>
          <p:nvPr/>
        </p:nvSpPr>
        <p:spPr>
          <a:xfrm>
            <a:off x="685800" y="201168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Loop over all vertices; start a BFS from each unvisited one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BFS discovers exactly one component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Number of BFS launches = number of components, in O(V + E)</a:t>
            </a:r>
            <a:endParaRPr lang="en-US" sz="1400" dirty="0"/>
          </a:p>
        </p:txBody>
      </p:sp>
      <p:sp>
        <p:nvSpPr>
          <p:cNvPr id="7" name="Card 101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dge 102"/>
          <p:cNvSpPr txBox="1"/>
          <p:nvPr/>
        </p:nvSpPr>
        <p:spPr>
          <a:xfrm>
            <a:off x="4892040" y="13898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Card title 103"/>
          <p:cNvSpPr txBox="1"/>
          <p:nvPr/>
        </p:nvSpPr>
        <p:spPr>
          <a:xfrm>
            <a:off x="544068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Bipartite check</a:t>
            </a:r>
            <a:endParaRPr lang="en-US" sz="1800" dirty="0"/>
          </a:p>
        </p:txBody>
      </p:sp>
      <p:sp>
        <p:nvSpPr>
          <p:cNvPr id="10" name="Bullets 104"/>
          <p:cNvSpPr txBox="1"/>
          <p:nvPr/>
        </p:nvSpPr>
        <p:spPr>
          <a:xfrm>
            <a:off x="4892040" y="201168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Colour the source 0; give each neighbour the opposite colour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 edge joining two same-coloured vertices means not bipartite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Equivalent to: the graph has no odd-length cycle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Cycles &amp; Topological Sort</a:t>
            </a:r>
            <a:endParaRPr lang="en-US" sz="3200" dirty="0"/>
          </a:p>
        </p:txBody>
      </p:sp>
      <p:sp>
        <p:nvSpPr>
          <p:cNvPr id="3" name="Card 105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106"/>
          <p:cNvSpPr txBox="1"/>
          <p:nvPr/>
        </p:nvSpPr>
        <p:spPr>
          <a:xfrm>
            <a:off x="685800" y="13898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Card title 107"/>
          <p:cNvSpPr txBox="1"/>
          <p:nvPr/>
        </p:nvSpPr>
        <p:spPr>
          <a:xfrm>
            <a:off x="123444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Cycle detection (undirected)</a:t>
            </a:r>
            <a:endParaRPr lang="en-US" sz="1800" dirty="0"/>
          </a:p>
        </p:txBody>
      </p:sp>
      <p:sp>
        <p:nvSpPr>
          <p:cNvPr id="6" name="Bullets 108"/>
          <p:cNvSpPr txBox="1"/>
          <p:nvPr/>
        </p:nvSpPr>
        <p:spPr>
          <a:xfrm>
            <a:off x="685800" y="201168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Keep parent[u] for every vertex during BFS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If a neighbour v is already visited and v ≠ parent[u], a cycle exists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Runs in O(V + E)</a:t>
            </a:r>
            <a:endParaRPr lang="en-US" sz="1400" dirty="0"/>
          </a:p>
        </p:txBody>
      </p:sp>
      <p:sp>
        <p:nvSpPr>
          <p:cNvPr id="7" name="Card 109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dge 110"/>
          <p:cNvSpPr txBox="1"/>
          <p:nvPr/>
        </p:nvSpPr>
        <p:spPr>
          <a:xfrm>
            <a:off x="4892040" y="13898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Card title 111"/>
          <p:cNvSpPr txBox="1"/>
          <p:nvPr/>
        </p:nvSpPr>
        <p:spPr>
          <a:xfrm>
            <a:off x="544068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Kahn’s algorithm (directed)</a:t>
            </a:r>
            <a:endParaRPr lang="en-US" sz="1800" dirty="0"/>
          </a:p>
        </p:txBody>
      </p:sp>
      <p:sp>
        <p:nvSpPr>
          <p:cNvPr id="10" name="Bullets 112"/>
          <p:cNvSpPr txBox="1"/>
          <p:nvPr/>
        </p:nvSpPr>
        <p:spPr>
          <a:xfrm>
            <a:off x="4892040" y="201168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Enqueue every vertex with in-degree 0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Dequeue u, output it, reduce in-degree of its neighbours; enqueue any that reach 0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Fewer than V outputs means the graph has a cycle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Variants of BFS</a:t>
            </a:r>
            <a:endParaRPr lang="en-US" sz="3200" dirty="0"/>
          </a:p>
        </p:txBody>
      </p:sp>
      <p:sp>
        <p:nvSpPr>
          <p:cNvPr id="3" name="Card 113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114"/>
          <p:cNvSpPr txBox="1"/>
          <p:nvPr/>
        </p:nvSpPr>
        <p:spPr>
          <a:xfrm>
            <a:off x="68580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Variant title 115"/>
          <p:cNvSpPr txBox="1"/>
          <p:nvPr/>
        </p:nvSpPr>
        <p:spPr>
          <a:xfrm>
            <a:off x="1234440" y="1371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Multi-source BFS</a:t>
            </a:r>
            <a:endParaRPr lang="en-US" sz="1800" dirty="0"/>
          </a:p>
        </p:txBody>
      </p:sp>
      <p:sp>
        <p:nvSpPr>
          <p:cNvPr id="6" name="Variant text 116"/>
          <p:cNvSpPr txBox="1"/>
          <p:nvPr/>
        </p:nvSpPr>
        <p:spPr>
          <a:xfrm>
            <a:off x="68580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Enqueue all sources at distance 0; finds the nearest source for every vertex.</a:t>
            </a:r>
            <a:endParaRPr lang="en-US" sz="1400" dirty="0"/>
          </a:p>
        </p:txBody>
      </p:sp>
      <p:sp>
        <p:nvSpPr>
          <p:cNvPr id="7" name="Card 117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dge 118"/>
          <p:cNvSpPr txBox="1"/>
          <p:nvPr/>
        </p:nvSpPr>
        <p:spPr>
          <a:xfrm>
            <a:off x="4892040" y="137160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Variant title 119"/>
          <p:cNvSpPr txBox="1"/>
          <p:nvPr/>
        </p:nvSpPr>
        <p:spPr>
          <a:xfrm>
            <a:off x="5440680" y="1371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Bidirectional BFS</a:t>
            </a:r>
            <a:endParaRPr lang="en-US" sz="1800" dirty="0"/>
          </a:p>
        </p:txBody>
      </p:sp>
      <p:sp>
        <p:nvSpPr>
          <p:cNvPr id="10" name="Variant text 120"/>
          <p:cNvSpPr txBox="1"/>
          <p:nvPr/>
        </p:nvSpPr>
        <p:spPr>
          <a:xfrm>
            <a:off x="489204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Search from both s and t until the frontiers meet; about b^(d/2) work instead of b^d.</a:t>
            </a:r>
            <a:endParaRPr lang="en-US" sz="1400" dirty="0"/>
          </a:p>
        </p:txBody>
      </p:sp>
      <p:sp>
        <p:nvSpPr>
          <p:cNvPr id="11" name="Card 121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 122"/>
          <p:cNvSpPr txBox="1"/>
          <p:nvPr/>
        </p:nvSpPr>
        <p:spPr>
          <a:xfrm>
            <a:off x="685800" y="315468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Variant title 123"/>
          <p:cNvSpPr txBox="1"/>
          <p:nvPr/>
        </p:nvSpPr>
        <p:spPr>
          <a:xfrm>
            <a:off x="123444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0-1 BFS</a:t>
            </a:r>
            <a:endParaRPr lang="en-US" sz="1800" dirty="0"/>
          </a:p>
        </p:txBody>
      </p:sp>
      <p:sp>
        <p:nvSpPr>
          <p:cNvPr id="14" name="Variant text 124"/>
          <p:cNvSpPr txBox="1"/>
          <p:nvPr/>
        </p:nvSpPr>
        <p:spPr>
          <a:xfrm>
            <a:off x="685800" y="3703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For edge weights 0 and 1: push 0-edges to the front of a deque and 1-edges to the back.</a:t>
            </a:r>
            <a:endParaRPr lang="en-US" sz="1400" dirty="0"/>
          </a:p>
        </p:txBody>
      </p:sp>
      <p:sp>
        <p:nvSpPr>
          <p:cNvPr id="15" name="Card 125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 126"/>
          <p:cNvSpPr txBox="1"/>
          <p:nvPr/>
        </p:nvSpPr>
        <p:spPr>
          <a:xfrm>
            <a:off x="4892040" y="3154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Variant title 127"/>
          <p:cNvSpPr txBox="1"/>
          <p:nvPr/>
        </p:nvSpPr>
        <p:spPr>
          <a:xfrm>
            <a:off x="544068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Level-order &amp; grid BFS</a:t>
            </a:r>
            <a:endParaRPr lang="en-US" sz="1800" dirty="0"/>
          </a:p>
        </p:txBody>
      </p:sp>
      <p:sp>
        <p:nvSpPr>
          <p:cNvPr id="18" name="Variant text 128"/>
          <p:cNvSpPr txBox="1"/>
          <p:nvPr/>
        </p:nvSpPr>
        <p:spPr>
          <a:xfrm>
            <a:off x="4892040" y="3703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Tree level-order traversal; shortest route through a maze using 4 or 8 neighbours.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Applications</a:t>
            </a:r>
            <a:endParaRPr lang="en-US" sz="3200" dirty="0"/>
          </a:p>
        </p:txBody>
      </p:sp>
      <p:sp>
        <p:nvSpPr>
          <p:cNvPr id="3" name="Card 129"/>
          <p:cNvSpPr/>
          <p:nvPr/>
        </p:nvSpPr>
        <p:spPr>
          <a:xfrm>
            <a:off x="457200" y="118872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pp title 130"/>
          <p:cNvSpPr txBox="1"/>
          <p:nvPr/>
        </p:nvSpPr>
        <p:spPr>
          <a:xfrm>
            <a:off x="68580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Shortest paths</a:t>
            </a:r>
            <a:endParaRPr lang="en-US" sz="1600" dirty="0"/>
          </a:p>
        </p:txBody>
      </p:sp>
      <p:sp>
        <p:nvSpPr>
          <p:cNvPr id="5" name="App text 131"/>
          <p:cNvSpPr txBox="1"/>
          <p:nvPr/>
        </p:nvSpPr>
        <p:spPr>
          <a:xfrm>
            <a:off x="685800" y="1737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Fewest hops in unweighted graphs, mazes and grids</a:t>
            </a:r>
            <a:endParaRPr lang="en-US" sz="1400" dirty="0"/>
          </a:p>
        </p:txBody>
      </p:sp>
      <p:sp>
        <p:nvSpPr>
          <p:cNvPr id="6" name="Card 132"/>
          <p:cNvSpPr/>
          <p:nvPr/>
        </p:nvSpPr>
        <p:spPr>
          <a:xfrm>
            <a:off x="3291840" y="118872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App title 133"/>
          <p:cNvSpPr txBox="1"/>
          <p:nvPr/>
        </p:nvSpPr>
        <p:spPr>
          <a:xfrm>
            <a:off x="352044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Web crawling</a:t>
            </a:r>
            <a:endParaRPr lang="en-US" sz="1600" dirty="0"/>
          </a:p>
        </p:txBody>
      </p:sp>
      <p:sp>
        <p:nvSpPr>
          <p:cNvPr id="8" name="App text 134"/>
          <p:cNvSpPr txBox="1"/>
          <p:nvPr/>
        </p:nvSpPr>
        <p:spPr>
          <a:xfrm>
            <a:off x="3520440" y="1737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Visit pages level by level from a seed URL</a:t>
            </a:r>
            <a:endParaRPr lang="en-US" sz="1400" dirty="0"/>
          </a:p>
        </p:txBody>
      </p:sp>
      <p:sp>
        <p:nvSpPr>
          <p:cNvPr id="9" name="Card 135"/>
          <p:cNvSpPr/>
          <p:nvPr/>
        </p:nvSpPr>
        <p:spPr>
          <a:xfrm>
            <a:off x="6126480" y="118872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App title 136"/>
          <p:cNvSpPr txBox="1"/>
          <p:nvPr/>
        </p:nvSpPr>
        <p:spPr>
          <a:xfrm>
            <a:off x="635508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Social networks</a:t>
            </a:r>
            <a:endParaRPr lang="en-US" sz="1600" dirty="0"/>
          </a:p>
        </p:txBody>
      </p:sp>
      <p:sp>
        <p:nvSpPr>
          <p:cNvPr id="11" name="App text 137"/>
          <p:cNvSpPr txBox="1"/>
          <p:nvPr/>
        </p:nvSpPr>
        <p:spPr>
          <a:xfrm>
            <a:off x="6355080" y="1737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Find friends within k connections</a:t>
            </a:r>
            <a:endParaRPr lang="en-US" sz="1400" dirty="0"/>
          </a:p>
        </p:txBody>
      </p:sp>
      <p:sp>
        <p:nvSpPr>
          <p:cNvPr id="12" name="Card 138"/>
          <p:cNvSpPr/>
          <p:nvPr/>
        </p:nvSpPr>
        <p:spPr>
          <a:xfrm>
            <a:off x="45720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App title 139"/>
          <p:cNvSpPr txBox="1"/>
          <p:nvPr/>
        </p:nvSpPr>
        <p:spPr>
          <a:xfrm>
            <a:off x="68580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Network broadcast</a:t>
            </a:r>
            <a:endParaRPr lang="en-US" sz="1600" dirty="0"/>
          </a:p>
        </p:txBody>
      </p:sp>
      <p:sp>
        <p:nvSpPr>
          <p:cNvPr id="14" name="App text 140"/>
          <p:cNvSpPr txBox="1"/>
          <p:nvPr/>
        </p:nvSpPr>
        <p:spPr>
          <a:xfrm>
            <a:off x="685800" y="3474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Flood a packet to every reachable node</a:t>
            </a:r>
            <a:endParaRPr lang="en-US" sz="1400" dirty="0"/>
          </a:p>
        </p:txBody>
      </p:sp>
      <p:sp>
        <p:nvSpPr>
          <p:cNvPr id="15" name="Card 141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pp title 142"/>
          <p:cNvSpPr txBox="1"/>
          <p:nvPr/>
        </p:nvSpPr>
        <p:spPr>
          <a:xfrm>
            <a:off x="352044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Puzzle solving</a:t>
            </a:r>
            <a:endParaRPr lang="en-US" sz="1600" dirty="0"/>
          </a:p>
        </p:txBody>
      </p:sp>
      <p:sp>
        <p:nvSpPr>
          <p:cNvPr id="17" name="App text 143"/>
          <p:cNvSpPr txBox="1"/>
          <p:nvPr/>
        </p:nvSpPr>
        <p:spPr>
          <a:xfrm>
            <a:off x="3520440" y="3474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Minimum moves in 8-puzzle or word ladder</a:t>
            </a:r>
            <a:endParaRPr lang="en-US" sz="1400" dirty="0"/>
          </a:p>
        </p:txBody>
      </p:sp>
      <p:sp>
        <p:nvSpPr>
          <p:cNvPr id="18" name="Card 144"/>
          <p:cNvSpPr/>
          <p:nvPr/>
        </p:nvSpPr>
        <p:spPr>
          <a:xfrm>
            <a:off x="612648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App title 145"/>
          <p:cNvSpPr txBox="1"/>
          <p:nvPr/>
        </p:nvSpPr>
        <p:spPr>
          <a:xfrm>
            <a:off x="635508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Max flow</a:t>
            </a:r>
            <a:endParaRPr lang="en-US" sz="1600" dirty="0"/>
          </a:p>
        </p:txBody>
      </p:sp>
      <p:sp>
        <p:nvSpPr>
          <p:cNvPr id="20" name="App text 146"/>
          <p:cNvSpPr txBox="1"/>
          <p:nvPr/>
        </p:nvSpPr>
        <p:spPr>
          <a:xfrm>
            <a:off x="6355080" y="3474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Edmonds–Karp finds augmenting paths with BFS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BFS vs DFS</a:t>
            </a:r>
            <a:endParaRPr lang="en-US" sz="3200" dirty="0"/>
          </a:p>
        </p:txBody>
      </p:sp>
      <p:graphicFrame>
        <p:nvGraphicFramePr>
          <p:cNvPr id="15" name="Comparison table 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BFS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DFS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2303B"/>
                          </a:solidFill>
                        </a:rPr>
                        <a:t>Data structure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Queue (FIFO)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Stack / recursion (LIFO)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2303B"/>
                          </a:solidFill>
                        </a:rPr>
                        <a:t>Order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Level by level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Deep along one branch first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2303B"/>
                          </a:solidFill>
                        </a:rPr>
                        <a:t>Shortest path (unweighted)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2303B"/>
                          </a:solidFill>
                        </a:rPr>
                        <a:t>Time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O(V + E)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O(V + E)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2303B"/>
                          </a:solidFill>
                        </a:rPr>
                        <a:t>Memory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Widest level of graph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Depth of graph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2303B"/>
                          </a:solidFill>
                        </a:rPr>
                        <a:t>Best for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Nearest target, fewest steps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2303B"/>
                          </a:solidFill>
                        </a:rPr>
                        <a:t>Backtracking, topological order, cycles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Advantages &amp; Limitations</a:t>
            </a:r>
            <a:endParaRPr lang="en-US" sz="3200" dirty="0"/>
          </a:p>
        </p:txBody>
      </p:sp>
      <p:sp>
        <p:nvSpPr>
          <p:cNvPr id="3" name="Card 148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149"/>
          <p:cNvSpPr txBox="1"/>
          <p:nvPr/>
        </p:nvSpPr>
        <p:spPr>
          <a:xfrm>
            <a:off x="685800" y="13898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5" name="Card title 150"/>
          <p:cNvSpPr txBox="1"/>
          <p:nvPr/>
        </p:nvSpPr>
        <p:spPr>
          <a:xfrm>
            <a:off x="123444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Advantages</a:t>
            </a:r>
            <a:endParaRPr lang="en-US" sz="1800" dirty="0"/>
          </a:p>
        </p:txBody>
      </p:sp>
      <p:sp>
        <p:nvSpPr>
          <p:cNvPr id="6" name="Bullets 151"/>
          <p:cNvSpPr txBox="1"/>
          <p:nvPr/>
        </p:nvSpPr>
        <p:spPr>
          <a:xfrm>
            <a:off x="685800" y="201168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Guarantees the fewest-edge path in unweighted graphs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Complete: finds a solution if one exists in a finite graph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Simple to code and linear in time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Gives level and distance information for free</a:t>
            </a:r>
            <a:endParaRPr lang="en-US" sz="1400" dirty="0"/>
          </a:p>
        </p:txBody>
      </p:sp>
      <p:sp>
        <p:nvSpPr>
          <p:cNvPr id="7" name="Card 152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dge 153"/>
          <p:cNvSpPr txBox="1"/>
          <p:nvPr/>
        </p:nvSpPr>
        <p:spPr>
          <a:xfrm>
            <a:off x="4892040" y="13898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−</a:t>
            </a:r>
            <a:endParaRPr lang="en-US" sz="1400" dirty="0"/>
          </a:p>
        </p:txBody>
      </p:sp>
      <p:sp>
        <p:nvSpPr>
          <p:cNvPr id="9" name="Card title 154"/>
          <p:cNvSpPr txBox="1"/>
          <p:nvPr/>
        </p:nvSpPr>
        <p:spPr>
          <a:xfrm>
            <a:off x="544068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10" name="Bullets 155"/>
          <p:cNvSpPr txBox="1"/>
          <p:nvPr/>
        </p:nvSpPr>
        <p:spPr>
          <a:xfrm>
            <a:off x="4892040" y="201168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Memory-hungry: the queue can hold a whole level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 for weighted edges; use Dijkstra or Bellman-Ford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Slow to reach deep nodes in wide graphs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Needs an extra O(V) visited structure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3" name="Badge 156"/>
          <p:cNvSpPr txBox="1"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akeaway 157"/>
          <p:cNvSpPr txBox="1"/>
          <p:nvPr/>
        </p:nvSpPr>
        <p:spPr>
          <a:xfrm>
            <a:off x="1188720" y="12344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BFS explores a graph level by level using a FIFO queue and a visited set</a:t>
            </a:r>
            <a:endParaRPr lang="en-US" sz="1600" dirty="0"/>
          </a:p>
        </p:txBody>
      </p:sp>
      <p:sp>
        <p:nvSpPr>
          <p:cNvPr id="5" name="Badge 158"/>
          <p:cNvSpPr txBox="1"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akeaway 159"/>
          <p:cNvSpPr txBox="1"/>
          <p:nvPr/>
        </p:nvSpPr>
        <p:spPr>
          <a:xfrm>
            <a:off x="1188720" y="21031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Time O(V + E) with adjacency lists; space O(V)</a:t>
            </a:r>
            <a:endParaRPr lang="en-US" sz="1600" dirty="0"/>
          </a:p>
        </p:txBody>
      </p:sp>
      <p:sp>
        <p:nvSpPr>
          <p:cNvPr id="7" name="Badge 160"/>
          <p:cNvSpPr txBox="1"/>
          <p:nvPr/>
        </p:nvSpPr>
        <p:spPr>
          <a:xfrm>
            <a:off x="457200" y="30175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akeaway 161"/>
          <p:cNvSpPr txBox="1"/>
          <p:nvPr/>
        </p:nvSpPr>
        <p:spPr>
          <a:xfrm>
            <a:off x="1188720" y="29718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It gives shortest paths in unweighted graphs and powers components, bipartite and cycle checks, and Kahn’s sort</a:t>
            </a:r>
            <a:endParaRPr lang="en-US" sz="1600" dirty="0"/>
          </a:p>
        </p:txBody>
      </p:sp>
      <p:sp>
        <p:nvSpPr>
          <p:cNvPr id="9" name="Badge 162"/>
          <p:cNvSpPr txBox="1"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akeaway 163"/>
          <p:cNvSpPr txBox="1"/>
          <p:nvPr/>
        </p:nvSpPr>
        <p:spPr>
          <a:xfrm>
            <a:off x="1188720" y="38404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Variants such as multi-source, bidirectional and 0-1 BFS extend it to harder problems</a:t>
            </a:r>
            <a:endParaRPr lang="en-US" sz="1600" dirty="0"/>
          </a:p>
        </p:txBody>
      </p:sp>
      <p:sp>
        <p:nvSpPr>
          <p:cNvPr id="11" name="Thanks 164"/>
          <p:cNvSpPr txBox="1"/>
          <p:nvPr/>
        </p:nvSpPr>
        <p:spPr>
          <a:xfrm>
            <a:off x="45720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Bullets 16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T. H. Cormen, C. E. Leiserson, R. L. Rivest, C. Stein, Introduction to Algorithms, MIT Press (chapter on elementary graph algorithms)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E. Horowitz, S. Sahni, S. Rajasekaran, Fundamentals of Computer Algorithms, Universities Press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Python documentation: collections.deque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FS Ripple">
  <a:themeElements>
    <a:clrScheme name="BFS Ripple">
      <a:dk1>
        <a:srgbClr val="12303B"/>
      </a:dk1>
      <a:lt1>
        <a:srgbClr val="FFFFFF"/>
      </a:lt1>
      <a:dk2>
        <a:srgbClr val="0B2E3A"/>
      </a:dk2>
      <a:lt2>
        <a:srgbClr val="EAF4F7"/>
      </a:lt2>
      <a:accent1>
        <a:srgbClr val="1C7293"/>
      </a:accent1>
      <a:accent2>
        <a:srgbClr val="F2A93B"/>
      </a:accent2>
      <a:accent3>
        <a:srgbClr val="2A9D8F"/>
      </a:accent3>
      <a:accent4>
        <a:srgbClr val="E76F51"/>
      </a:accent4>
      <a:accent5>
        <a:srgbClr val="5C6B73"/>
      </a:accent5>
      <a:accent6>
        <a:srgbClr val="8AB6C4"/>
      </a:accent6>
      <a:hlink>
        <a:srgbClr val="1C7293"/>
      </a:hlink>
      <a:folHlink>
        <a:srgbClr val="5C6B73"/>
      </a:folHlink>
    </a:clrScheme>
    <a:fontScheme name="BFS Rippl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1507</Words>
  <Application>Microsoft Office PowerPoint</Application>
  <PresentationFormat>On-screen Show (16:9)</PresentationFormat>
  <Paragraphs>291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BFS Ripple</vt:lpstr>
      <vt:lpstr>Breadth First Search (BFS)</vt:lpstr>
      <vt:lpstr>What We Will Cover</vt:lpstr>
      <vt:lpstr>What Is BFS?</vt:lpstr>
      <vt:lpstr>How It Works</vt:lpstr>
      <vt:lpstr>Algorithm &amp; Pseudocode</vt:lpstr>
      <vt:lpstr>Worked Example (Source A)</vt:lpstr>
      <vt:lpstr>Implementation in Python</vt:lpstr>
      <vt:lpstr>Complexity Analysis</vt:lpstr>
      <vt:lpstr>Shortest Path &amp; BFS Tree</vt:lpstr>
      <vt:lpstr>Components &amp; Bipartite Check</vt:lpstr>
      <vt:lpstr>Cycles &amp; Topological Sort</vt:lpstr>
      <vt:lpstr>Variants of BFS</vt:lpstr>
      <vt:lpstr>Applications</vt:lpstr>
      <vt:lpstr>BFS vs DFS</vt:lpstr>
      <vt:lpstr>Advantages &amp; Limitations</vt:lpstr>
      <vt:lpstr>Key Takeaways</vt:lpstr>
      <vt:lpstr>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Breadth First Search (BFS)</dc:title>
  <dc:subject>PptxGenJS Presentation</dc:subject>
  <dc:creator>Vedanti Mukesh Tatte</dc:creator>
  <cp:lastModifiedBy>Vedanti Tatte</cp:lastModifiedBy>
  <cp:revision>1</cp:revision>
  <dcterms:created xsi:type="dcterms:W3CDTF">2026-10-19T04:45:11Z</dcterms:created>
  <dcterms:modified xsi:type="dcterms:W3CDTF">2026-10-19T15:53:19Z</dcterms:modified>
</cp:coreProperties>
</file>